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8c583e66894469" /><Relationship Type="http://schemas.openxmlformats.org/officeDocument/2006/relationships/extended-properties" Target="/docProps/app.xml" Id="Rf4435918209a41ec" /><Relationship Type="http://schemas.openxmlformats.org/officeDocument/2006/relationships/officeDocument" Target="/ppt/presentation.xml" Id="R4f4feda7dcd84b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b7c230c0124760"/>
  </p:sldMasterIdLst>
  <p:notesMasterIdLst>
    <p:notesMasterId xmlns:r="http://schemas.openxmlformats.org/officeDocument/2006/relationships" r:id="Ref1d5af4a8a844a3"/>
  </p:notesMasterIdLst>
  <p:sldIdLst>
    <p:sldId xmlns:r="http://schemas.openxmlformats.org/officeDocument/2006/relationships" id="256" r:id="Rf519349e56894a22"/>
    <p:sldId xmlns:r="http://schemas.openxmlformats.org/officeDocument/2006/relationships" id="257" r:id="R71984675d3254c41"/>
    <p:sldId xmlns:r="http://schemas.openxmlformats.org/officeDocument/2006/relationships" id="258" r:id="R28c061351df0430b"/>
    <p:sldId xmlns:r="http://schemas.openxmlformats.org/officeDocument/2006/relationships" id="259" r:id="R9b3eb7b343b545ff"/>
    <p:sldId xmlns:r="http://schemas.openxmlformats.org/officeDocument/2006/relationships" id="260" r:id="R7beea9751bbf4c01"/>
    <p:sldId xmlns:r="http://schemas.openxmlformats.org/officeDocument/2006/relationships" id="261" r:id="Rbdca3be9457440fc"/>
    <p:sldId xmlns:r="http://schemas.openxmlformats.org/officeDocument/2006/relationships" id="262" r:id="R4e31e70cdbb840f4"/>
    <p:sldId xmlns:r="http://schemas.openxmlformats.org/officeDocument/2006/relationships" id="263" r:id="R855051e8bfe94685"/>
    <p:sldId xmlns:r="http://schemas.openxmlformats.org/officeDocument/2006/relationships" id="264" r:id="R05516d8b4c5249b3"/>
    <p:sldId xmlns:r="http://schemas.openxmlformats.org/officeDocument/2006/relationships" id="265" r:id="Rb7aea10c75404598"/>
    <p:sldId xmlns:r="http://schemas.openxmlformats.org/officeDocument/2006/relationships" id="266" r:id="Re44eb7b88b0e44dc"/>
    <p:sldId xmlns:r="http://schemas.openxmlformats.org/officeDocument/2006/relationships" id="267" r:id="R409c5f00708d4d9c"/>
    <p:sldId xmlns:r="http://schemas.openxmlformats.org/officeDocument/2006/relationships" id="268" r:id="R922f558467114286"/>
    <p:sldId xmlns:r="http://schemas.openxmlformats.org/officeDocument/2006/relationships" id="269" r:id="Rbaf8867e49a04c8e"/>
    <p:sldId xmlns:r="http://schemas.openxmlformats.org/officeDocument/2006/relationships" id="270" r:id="R539ba1b7e7624f7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8dbdd5406c4112" /><Relationship Type="http://schemas.openxmlformats.org/officeDocument/2006/relationships/slideMaster" Target="/ppt/slideMasters/slideMaster1.xml" Id="R4cb7c230c0124760" /><Relationship Type="http://schemas.openxmlformats.org/officeDocument/2006/relationships/notesMaster" Target="/ppt/notesMasters/notesMaster1.xml" Id="Ref1d5af4a8a844a3" /><Relationship Type="http://schemas.openxmlformats.org/officeDocument/2006/relationships/presProps" Target="/ppt/presProps.xml" Id="Rfe54e159bc9d4e7a" /><Relationship Type="http://schemas.openxmlformats.org/officeDocument/2006/relationships/tableStyles" Target="/ppt/tableStyles.xml" Id="Rbe0604397647498b" /><Relationship Type="http://schemas.openxmlformats.org/officeDocument/2006/relationships/slide" Target="/ppt/slides/slide1.xml" Id="Rf519349e56894a22" /><Relationship Type="http://schemas.openxmlformats.org/officeDocument/2006/relationships/slide" Target="/ppt/slides/slide2.xml" Id="R71984675d3254c41" /><Relationship Type="http://schemas.openxmlformats.org/officeDocument/2006/relationships/slide" Target="/ppt/slides/slide3.xml" Id="R28c061351df0430b" /><Relationship Type="http://schemas.openxmlformats.org/officeDocument/2006/relationships/slide" Target="/ppt/slides/slide4.xml" Id="R9b3eb7b343b545ff" /><Relationship Type="http://schemas.openxmlformats.org/officeDocument/2006/relationships/slide" Target="/ppt/slides/slide5.xml" Id="R7beea9751bbf4c01" /><Relationship Type="http://schemas.openxmlformats.org/officeDocument/2006/relationships/slide" Target="/ppt/slides/slide6.xml" Id="Rbdca3be9457440fc" /><Relationship Type="http://schemas.openxmlformats.org/officeDocument/2006/relationships/slide" Target="/ppt/slides/slide7.xml" Id="R4e31e70cdbb840f4" /><Relationship Type="http://schemas.openxmlformats.org/officeDocument/2006/relationships/slide" Target="/ppt/slides/slide8.xml" Id="R855051e8bfe94685" /><Relationship Type="http://schemas.openxmlformats.org/officeDocument/2006/relationships/slide" Target="/ppt/slides/slide9.xml" Id="R05516d8b4c5249b3" /><Relationship Type="http://schemas.openxmlformats.org/officeDocument/2006/relationships/slide" Target="/ppt/slides/slide10.xml" Id="Rb7aea10c75404598" /><Relationship Type="http://schemas.openxmlformats.org/officeDocument/2006/relationships/slide" Target="/ppt/slides/slide11.xml" Id="Re44eb7b88b0e44dc" /><Relationship Type="http://schemas.openxmlformats.org/officeDocument/2006/relationships/slide" Target="/ppt/slides/slide12.xml" Id="R409c5f00708d4d9c" /><Relationship Type="http://schemas.openxmlformats.org/officeDocument/2006/relationships/slide" Target="/ppt/slides/slide13.xml" Id="R922f558467114286" /><Relationship Type="http://schemas.openxmlformats.org/officeDocument/2006/relationships/slide" Target="/ppt/slides/slide14.xml" Id="Rbaf8867e49a04c8e" /><Relationship Type="http://schemas.openxmlformats.org/officeDocument/2006/relationships/slide" Target="/ppt/slides/slide15.xml" Id="R539ba1b7e7624f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5fc197cd2647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26df9236554cff" /><Relationship Type="http://schemas.openxmlformats.org/officeDocument/2006/relationships/notesMaster" Target="/ppt/notesMasters/notesMaster1.xml" Id="R33c215c23ae64c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01f5b2eeae46bf" /><Relationship Type="http://schemas.openxmlformats.org/officeDocument/2006/relationships/notesMaster" Target="/ppt/notesMasters/notesMaster1.xml" Id="R99271cebff0c46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4a4af59bc64111" /><Relationship Type="http://schemas.openxmlformats.org/officeDocument/2006/relationships/notesMaster" Target="/ppt/notesMasters/notesMaster1.xml" Id="Raa7dea66884849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4d5d7f7f0249ff" /><Relationship Type="http://schemas.openxmlformats.org/officeDocument/2006/relationships/notesMaster" Target="/ppt/notesMasters/notesMaster1.xml" Id="R5751ba7029394a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c2063cbcdc401d" /><Relationship Type="http://schemas.openxmlformats.org/officeDocument/2006/relationships/notesMaster" Target="/ppt/notesMasters/notesMaster1.xml" Id="R3dfec6e0518448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359419f8454e4f" /><Relationship Type="http://schemas.openxmlformats.org/officeDocument/2006/relationships/notesMaster" Target="/ppt/notesMasters/notesMaster1.xml" Id="R744107a2e62a47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26cf37a87344c0" /><Relationship Type="http://schemas.openxmlformats.org/officeDocument/2006/relationships/notesMaster" Target="/ppt/notesMasters/notesMaster1.xml" Id="Rbd09923ede1b4f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52a3143e0f4f67" /><Relationship Type="http://schemas.openxmlformats.org/officeDocument/2006/relationships/notesMaster" Target="/ppt/notesMasters/notesMaster1.xml" Id="Rca63e4aa725b4d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207281584e4e42" /><Relationship Type="http://schemas.openxmlformats.org/officeDocument/2006/relationships/notesMaster" Target="/ppt/notesMasters/notesMaster1.xml" Id="Rec4fc6017df647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bfda3202744217" /><Relationship Type="http://schemas.openxmlformats.org/officeDocument/2006/relationships/notesMaster" Target="/ppt/notesMasters/notesMaster1.xml" Id="R4a1101730dbd4c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9d2448e6fd140e9" /><Relationship Type="http://schemas.openxmlformats.org/officeDocument/2006/relationships/notesMaster" Target="/ppt/notesMasters/notesMaster1.xml" Id="R19c7232cbf8c45e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a4f3a1f7ec24169" /><Relationship Type="http://schemas.openxmlformats.org/officeDocument/2006/relationships/notesMaster" Target="/ppt/notesMasters/notesMaster1.xml" Id="R102cd68d74114bc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5ddbf032c3743ad" /><Relationship Type="http://schemas.openxmlformats.org/officeDocument/2006/relationships/notesMaster" Target="/ppt/notesMasters/notesMaster1.xml" Id="R4d439ddc86a3497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7410239b1a1486b" /><Relationship Type="http://schemas.openxmlformats.org/officeDocument/2006/relationships/notesMaster" Target="/ppt/notesMasters/notesMaster1.xml" Id="Re713faa0471041b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a971105e9ab4867" /><Relationship Type="http://schemas.openxmlformats.org/officeDocument/2006/relationships/notesMaster" Target="/ppt/notesMasters/notesMaster1.xml" Id="R388cd4111f1049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commercial promise: SIMElab makes complex social-network analysis repeatable, explainable, and fast. The RejectFinanceBill figures are verified proof that the system can handle a real, large workbook today.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opportunity is not another visualization tool. It is a repeatable intelligence layer for teams that need to move quickly and still defend how every conclusion was produced.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architecture is a selling point: customers get fresh analysis on every upload and instant recovery after a reload. Redis improves experience; it never hides stale computation.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claim signed customers or market share. Present these as the highest-value deployment wedges supported by the current product capabilities.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product proof rather than revenue traction. The system parsed, cleaned, computed, and explained a 5,948-account network while exposing the data-quality and topology decisions behind the 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Translate the engineering into economics: less duplicated computation means faster analyst iteration, lower infrastructure cost, and a cleaner foundation for recurring deployments.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business value is segmentation: analysts can distinguish connector-like accounts from broadcaster-like accounts and prioritize deeper investigation. Keep the caveat: this describes network behavior, not emotional sentiment.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key trust slide. The earlier extreme CVI came from dividing by a zero/near-zero whole-graph value. The corrected implementation returns N/A for the whole graph and computes a consistent custom CVI on the giant component.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proposed packaging paths, not claimed revenue. The wedge is a paid pilot using the customer’s own dataset; expansion comes from recurring monitoring, team access, governance, and customization.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AI layer does not invent a separate truth. It receives the same graph, sentiment, disinformation, censorship, and hashtag metrics as the dashboard. External model use still requires customer consent and governance.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Speed is a product metric: it improves analyst throughput, makes iteration affordable, and supports repeat monitoring. The gain came from engineering reuse, not from returning stale database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moat is not a single algorithm. It is the integrated, topology-aware workflow; the accumulated calibration and case knowledge; and the ability to deploy AI with evidence and governance.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structural interpretations. Do not infer individual intent or real-world causality from them. The value is that they identify which parts of the network deserve closer qualitative investigation.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technical appendix slide during questions. The important distinction is method provenance: standard algorithms are configured and validated; project-defined indices are formulas chosen for decision support and must be interpreted locally.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two asks: design partners with real datasets and high-stakes decisions, and investment to harden the product, validate demand, and create repeatable institutional delivery. Do not invent a funding amount unless one is agreed.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9de497386340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2d4f43460649bd" /><Relationship Type="http://schemas.openxmlformats.org/officeDocument/2006/relationships/slideLayout" Target="/ppt/slideLayouts/slideLayout1.xml" Id="Rbfba7764106447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ba7764106447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aa078baf94b19" /><Relationship Type="http://schemas.openxmlformats.org/officeDocument/2006/relationships/image" Target="/ppt/media/image.jpeg" Id="Rf19c9c00b8094727" /><Relationship Type="http://schemas.openxmlformats.org/officeDocument/2006/relationships/notesSlide" Target="/ppt/notesSlides/notesSlide1.xml" Id="Rb3b0bda4bd984f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d3427f6134ce8" /><Relationship Type="http://schemas.openxmlformats.org/officeDocument/2006/relationships/notesSlide" Target="/ppt/notesSlides/notesSlide2.xml" Id="R6db35874ecf34d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53920ea22490f" /><Relationship Type="http://schemas.openxmlformats.org/officeDocument/2006/relationships/notesSlide" Target="/ppt/notesSlides/notesSlide3.xml" Id="Ra7f3147424b542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c4a20767749a1" /><Relationship Type="http://schemas.openxmlformats.org/officeDocument/2006/relationships/notesSlide" Target="/ppt/notesSlides/notesSlide4.xml" Id="R261aa852a78345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51be1c776499b" /><Relationship Type="http://schemas.openxmlformats.org/officeDocument/2006/relationships/notesSlide" Target="/ppt/notesSlides/notesSlide5.xml" Id="R6529b623e8bd41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a40989e3e407f" /><Relationship Type="http://schemas.openxmlformats.org/officeDocument/2006/relationships/notesSlide" Target="/ppt/notesSlides/notesSlide6.xml" Id="R59f91cb31d0d45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3cb361f7143e5" /><Relationship Type="http://schemas.openxmlformats.org/officeDocument/2006/relationships/chart" Target="/ppt/slides/charts/chart1.xml" Id="R821278e94b8e4c58" /><Relationship Type="http://schemas.openxmlformats.org/officeDocument/2006/relationships/notesSlide" Target="/ppt/notesSlides/notesSlide7.xml" Id="R36ae167afb494f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df7dc51d14f30" /><Relationship Type="http://schemas.openxmlformats.org/officeDocument/2006/relationships/notesSlide" Target="/ppt/notesSlides/notesSlide8.xml" Id="Rd9dffaa0818045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c02b7aa1d4d79" /><Relationship Type="http://schemas.openxmlformats.org/officeDocument/2006/relationships/notesSlide" Target="/ppt/notesSlides/notesSlide9.xml" Id="Rfa1ca95dc2a145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47e40ca974e6d" /><Relationship Type="http://schemas.openxmlformats.org/officeDocument/2006/relationships/notesSlide" Target="/ppt/notesSlides/notesSlide10.xml" Id="Re88e9157b1324f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6b861d6cc46e0" /><Relationship Type="http://schemas.openxmlformats.org/officeDocument/2006/relationships/chart" Target="/ppt/slides/charts/chart2.xml" Id="R190feedf32ed437f" /><Relationship Type="http://schemas.openxmlformats.org/officeDocument/2006/relationships/notesSlide" Target="/ppt/notesSlides/notesSlide11.xml" Id="R4b2178ed93cc4b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7f45c59a54695" /><Relationship Type="http://schemas.openxmlformats.org/officeDocument/2006/relationships/notesSlide" Target="/ppt/notesSlides/notesSlide12.xml" Id="R37b8853bc33143c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8b8e476bc4201" /><Relationship Type="http://schemas.openxmlformats.org/officeDocument/2006/relationships/notesSlide" Target="/ppt/notesSlides/notesSlide13.xml" Id="R69217466059d4a3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24455d4b04682" /><Relationship Type="http://schemas.openxmlformats.org/officeDocument/2006/relationships/notesSlide" Target="/ppt/notesSlides/notesSlide14.xml" Id="R186d9b47071a412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88eef0e7741f0" /><Relationship Type="http://schemas.openxmlformats.org/officeDocument/2006/relationships/notesSlide" Target="/ppt/notesSlides/notesSlide15.xml" Id="R46b5c36bdf81461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Share of accounts</c:v>
          </c:tx>
          <c:spPr>
            <a:solidFill xmlns:a="http://schemas.openxmlformats.org/drawingml/2006/main">
              <a:srgbClr val="3D8DFF"/>
            </a:solidFill>
          </c:spPr>
          <c:dPt>
            <c:idx val="0"/>
            <c:spPr>
              <a:solidFill xmlns:a="http://schemas.openxmlformats.org/drawingml/2006/main">
                <a:srgbClr val="079455"/>
              </a:solidFill>
            </c:spPr>
          </c:dPt>
          <c:dPt>
            <c:idx val="1"/>
            <c:spPr>
              <a:solidFill xmlns:a="http://schemas.openxmlformats.org/drawingml/2006/main">
                <a:srgbClr val="B8BCC4"/>
              </a:solidFill>
            </c:spPr>
          </c:dPt>
          <c:dPt>
            <c:idx val="2"/>
            <c:spPr>
              <a:solidFill xmlns:a="http://schemas.openxmlformats.org/drawingml/2006/main">
                <a:srgbClr val="FF6B00"/>
              </a:solidFill>
            </c:spPr>
          </c:dPt>
          <c:cat>
            <c:strLit>
              <c:ptCount val="3"/>
              <c:pt idx="0">
                <c:v>Connector</c:v>
              </c:pt>
              <c:pt idx="1">
                <c:v>Neutral</c:v>
              </c:pt>
              <c:pt idx="2">
                <c:v>Broadcaster</c:v>
              </c:pt>
            </c:strLit>
          </c:cat>
          <c:val>
            <c:numLit>
              <c:formatCode>General</c:formatCode>
              <c:ptCount val="3"/>
              <c:pt idx="0">
                <c:v>28</c:v>
              </c:pt>
              <c:pt idx="1">
                <c:v>3</c:v>
              </c:pt>
              <c:pt idx="2">
                <c:v>68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0A0A0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Share of accounts (%)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A0A0A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Seconds</c:v>
          </c:tx>
          <c:spPr>
            <a:solidFill xmlns:a="http://schemas.openxmlformats.org/drawingml/2006/main">
              <a:srgbClr val="3D8DFF"/>
            </a:solidFill>
          </c:spPr>
          <c:dPt>
            <c:idx val="0"/>
            <c:spPr>
              <a:solidFill xmlns:a="http://schemas.openxmlformats.org/drawingml/2006/main">
                <a:srgbClr val="B8BCC4"/>
              </a:solidFill>
            </c:spPr>
          </c:dPt>
          <c:dPt>
            <c:idx val="1"/>
            <c:spPr>
              <a:solidFill xmlns:a="http://schemas.openxmlformats.org/drawingml/2006/main">
                <a:srgbClr val="24449A"/>
              </a:solidFill>
            </c:spPr>
          </c:dPt>
          <c:cat>
            <c:strLit>
              <c:ptCount val="2"/>
              <c:pt idx="0">
                <c:v>Baseline</c:v>
              </c:pt>
              <c:pt idx="1">
                <c:v>Optimized</c:v>
              </c:pt>
            </c:strLit>
          </c:cat>
          <c:val>
            <c:numLit>
              <c:formatCode>General</c:formatCode>
              <c:ptCount val="2"/>
              <c:pt idx="0">
                <c:v>57.11</c:v>
              </c:pt>
              <c:pt idx="1">
                <c:v>33.99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0A0A0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A0A0A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Full analysis time (seconds)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9c9c00b8094727"/>
          <a:stretch xmlns:a="http://schemas.openxmlformats.org/drawingml/2006/main"/>
        </p:blipFill>
        <p:spPr>
          <a:xfrm xmlns:a="http://schemas.openxmlformats.org/drawingml/2006/main">
            <a:off x="1247775" y="24765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88EC2-1D4B-4148-9674-B48799F0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24C48-E967-49B2-9820-0F140386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73342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Decision intelligence for</a:t>
            </a:r>
          </a:p>
          <a:p xmlns:a="http://schemas.openxmlformats.org/drawingml/2006/main">
            <a:pPr algn="l">
              <a:defRPr sz="42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fast-moving public conversations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B27A4-0B39-4032-929E-3E622909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2430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SIMElab converts NodeXL workbooks into explainable network, risk, and narrative intelligence—fast enough for recurring monitoring.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CD84D-FEC7-4F53-B905-A418EFA8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447800"/>
            <a:ext cx="3333750" cy="40005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570C8-9322-475F-A8EE-247F4A0D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526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VERIFIED 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5E5452-C481-4FCB-8E30-530AD4DD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764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49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RejectFinanceBill2024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6768F0-F92E-4F20-AD27-2607D3DD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718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951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5,948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2BF808-B8A4-4C74-8215-35E7D0A2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81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accounts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E86948-FB26-4C74-BC05-CBD80DE7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386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951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6B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6B00"/>
                </a:solidFill>
                <a:latin typeface="Helvetica Neue"/>
                <a:ea typeface="Helvetica Neue"/>
                <a:cs typeface="Helvetica Neue"/>
              </a:rPr>
              <a:t>8,741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A74E5F-B0B4-40F2-AC87-FB1FA8F6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48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directed connections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F8B280-CC0D-4813-AB81-5951714C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579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Investor pitch · July 2026</a:t>
            </a:r>
          </a:p>
        </p:txBody>
      </p:sp>
    </p:spTree>
    <p:extLst>
      <p:ext uri="{BB962C8B-B14F-4D97-AF65-F5344CB8AC3E}">
        <p14:creationId xmlns:p14="http://schemas.microsoft.com/office/powerpoint/2010/main" val="8202556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301882-72D3-45A3-9C4B-AE939CA9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THE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8ED6A8-E112-4F89-B662-5362FAFC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Abundant social data still produces scarce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1F0FB-08CB-43C2-BD64-C30BAAA7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D22515-89DA-49BF-92E8-64F032E7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E403BC-8562-4BE4-AF30-F799B256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24025"/>
            <a:ext cx="3581400" cy="3876675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3BE1D-A3EE-4510-BEDC-4D62CF0D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9E7F35-A311-49C0-9A49-71EEA200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431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Slow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DB54B-0219-4911-937D-18327672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67075"/>
            <a:ext cx="3086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Analysts move between spreadsheets, scripts, and dashboards. Every new dataset restarts the same cleaning, computation, and reporting cycle.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3AEA8-28B7-475F-861D-7917F480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24025"/>
            <a:ext cx="3581400" cy="3876675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742EE8-BBD8-457C-8803-03A2E31C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526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4FEDC2-BBDA-4576-B6FB-0A39A9FA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431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Opaque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8A56A9-536C-4707-B7B5-08C5C149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67075"/>
            <a:ext cx="3086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Black-box scores are difficult to defend in research, media, policy, or brand-risk decisions—especially when the network is disconnected.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13F8F7-57F2-425C-A0DC-D3BAF1F0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24025"/>
            <a:ext cx="3581400" cy="3876675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70487B-EF9E-4673-960A-E4734543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526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B464D9-EC21-4F75-BA57-B680B53D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431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Fragmented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E6476C-6095-4650-8AC8-DEB48BCE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67075"/>
            <a:ext cx="3086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Graph structure, risky behavior, hashtags, narrative change, and AI analysis usually live in separate tools with inconsistent context.</a:t>
            </a:r>
          </a:p>
        </p:txBody>
      </p:sp>
    </p:spTree>
    <p:extLst>
      <p:ext uri="{BB962C8B-B14F-4D97-AF65-F5344CB8AC3E}">
        <p14:creationId xmlns:p14="http://schemas.microsoft.com/office/powerpoint/2010/main" val="393950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26EA65-F51C-4F16-BB12-0DB62EEC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THE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AC10D5-9396-4A6D-AB6D-B0CDC569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086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One workbook becomes a repeatable intelligence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EB91D-F74D-4350-9B86-E6A3CB7A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DF8393-6140-4804-8850-4FA3F205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87268-E66A-44D5-A5FA-38115368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2571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5BA0B0-625B-461C-BDAC-E6935110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4191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8B26C6-9686-4B03-ABBB-0A46FB2C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2288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E43DB8-A7EC-432A-B2BE-DAB911CA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Upload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1E3EA-5DC7-4E72-A9F9-6B803FA2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NodeXL .xlsx 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81C37E-09F9-4374-A5DD-17D80A03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5750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28376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9978B2-364D-47C9-AF32-9E9788DD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00250"/>
            <a:ext cx="2571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E8C766-A2EB-4545-AAA7-FA03E987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09800"/>
            <a:ext cx="4191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4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21CCC2-29CE-4145-ACAE-DD29D79D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288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C48C36-DBFD-4741-A227-54039A38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003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Verify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569DAF-E52B-4EAE-A642-1303775D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004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cleaning + fresh computation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32152D-CF63-4279-9BD3-64225A3A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5750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28376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A50F03-75E6-49F4-BAC2-0D953791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00250"/>
            <a:ext cx="2571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1B0CF0-799E-45D1-BA02-1E4A680E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9800"/>
            <a:ext cx="4191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389276-6EBC-47BD-8F38-065DBBB4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2288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7EDA09-D249-485F-A2BB-509A934D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03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Analyze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2D3FA5-D03E-4197-944C-B2087E54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004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network + risk + narratives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6D1A2C-330B-4812-ACD7-7E8091AA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85750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28376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F5CECF-2EC8-4DD3-88E2-1BDA9B2D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00250"/>
            <a:ext cx="2571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2B90A4-4097-4793-AD3A-65E56BCD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09800"/>
            <a:ext cx="4191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5539D1-E43F-4A0E-A2A1-B38B260B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2288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A47466-DB15-49E9-9048-43D1117F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03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Act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B62F33-D216-4D87-8FED-CB99CCF5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004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AI copilot + reports + exports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55CDB1-984E-472D-97FE-6C705C3A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2014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805F85-6318-48BE-90C8-6C2E15ED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Fresh by default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B4B7F0-F977-4FFD-8316-5CF80127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972050"/>
            <a:ext cx="874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Every upload recomputes from source. Compressed Redis caching only restores the latest result after reload—preserving trust without wasting analyst time.</a:t>
            </a:r>
          </a:p>
        </p:txBody>
      </p:sp>
    </p:spTree>
    <p:extLst>
      <p:ext uri="{BB962C8B-B14F-4D97-AF65-F5344CB8AC3E}">
        <p14:creationId xmlns:p14="http://schemas.microsoft.com/office/powerpoint/2010/main" val="139130592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B21602-1CFA-4260-A86A-AC9D06A7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WHO BENEFITS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F172B-4A5F-4371-BCEF-0638DB35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476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Six customer segments create clear paths to paid deployment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B8F3D-E665-448A-BF1C-D74B2FB8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2FE1DC-4A76-4D48-A947-41E3E6BA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500436-7502-4DD5-B7FF-47489314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34671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081FFA-E865-413D-ABB4-132D5DA2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E99EE3-E2A7-4286-AB30-7BBE4458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Research centers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3554AC-8EB8-44B7-81B6-9EE81C12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Reproducible network studies and documented methods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932C9-F8D7-4B7E-9B76-11E298B0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5450"/>
            <a:ext cx="34671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32CDA-6E56-4616-9731-39804D02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859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99EC9D-4A94-4FE4-8921-0F43DF69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2885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Newsrooms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2996CA-C632-45CE-92E9-517DDE8B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4320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Rapid investigation of influence and narrative shifts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6AB512-921A-474D-84EC-6E903BF8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95450"/>
            <a:ext cx="34671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07428F-5F6B-447B-9546-424D7AD1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859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A7D9E6-6EC3-4E0B-9F61-73246A60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2885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Public sector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549014-D43D-4D66-B268-ECBDEF17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4320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Policy monitoring, consultation analysis, and risk triage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9252BA-10D6-4020-A060-2A120A47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71900"/>
            <a:ext cx="34671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23448D-B50E-4219-A94A-4119A9CE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FFC493-F8B2-4BBD-9560-17D9B053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Brands + agencies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BC0823-95B4-4DC2-AB3C-7603CAA6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Reputation, campaign, influencer, and issue intelligence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0DE18C-86C4-45D1-9756-5151A5D2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71900"/>
            <a:ext cx="34671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4D2C97-75F3-428F-9F0B-63796637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624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C0F2FB-B899-47B0-B56B-B9BE6064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0530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NGOs + civic teams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19C564-D4F1-4BAF-9EA3-FE7009A5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1965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Movement mapping, coalition structure, and information integrity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8DA0A4-3D2C-45D3-8AC6-AADEDCF5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71900"/>
            <a:ext cx="34671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24FEA0-FA8A-4E25-B9DE-F8E0ADD9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624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353098-A405-41BC-B990-C5AA8BFB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0530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Platform partners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332DDC-0D3C-4E83-9207-BE5CD76E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1965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Embedded analytics, exports, and custom intelligence workflows</a:t>
            </a:r>
          </a:p>
        </p:txBody>
      </p:sp>
    </p:spTree>
    <p:extLst>
      <p:ext uri="{BB962C8B-B14F-4D97-AF65-F5344CB8AC3E}">
        <p14:creationId xmlns:p14="http://schemas.microsoft.com/office/powerpoint/2010/main" val="124437508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7C2530-741D-460B-9967-4377B96D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VERIFIED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E549D-C397-45EC-BFA2-DB369387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RejectFinanceBill proves scale and differentiated insight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67A984-4FE7-426E-80C6-C5D3D602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CB40C0-A697-4AA5-8599-555489C2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173F6-09A3-4442-A1A5-055802C3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57175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6BCCE-E12D-4815-A847-50A502C9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6667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65A357-8126-4881-ADBE-E16E26B2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2114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551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5,948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157A7-469E-4788-93B1-1765A0DC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accounts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20192D-1DA9-4680-9709-6A3EB89C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unique network nodes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83B54-9F41-4569-BA21-72A030A0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52600"/>
            <a:ext cx="257175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0F2D63-F5BB-4F92-B702-0EE4A95A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52600"/>
            <a:ext cx="6667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396AA3-BCE1-4BBA-A104-036F3F5D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43100"/>
            <a:ext cx="2114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551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6B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6B00"/>
                </a:solidFill>
                <a:latin typeface="Helvetica Neue"/>
                <a:ea typeface="Helvetica Neue"/>
                <a:cs typeface="Helvetica Neue"/>
              </a:rPr>
              <a:t>8,741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0B6FD0-7D4C-4DB1-ACD2-F4461098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908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directed edges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61E073-BBC5-4B40-8CBC-CFD65595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956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after 1,065 invalid rows skipped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C22E9-8F3F-4FA5-AA41-108B45CF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52600"/>
            <a:ext cx="257175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46A568-582B-40FB-997D-14D2F2F9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52600"/>
            <a:ext cx="6667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070FA7-DD29-4227-8407-DCFEDFAF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43100"/>
            <a:ext cx="2114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551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148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4B8AAB-677F-4470-97D4-C2D751CE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908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components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3B9D85-7ED6-4DDE-AE01-59023B88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956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weak / undirected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413F28-B6A8-4248-8577-1180D7B4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752600"/>
            <a:ext cx="291465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41D40F-CE8B-4827-854E-E1919094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752600"/>
            <a:ext cx="6667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4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6724EA-214C-42DE-90BC-1D89BE6C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43100"/>
            <a:ext cx="2457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551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794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79455"/>
                </a:solidFill>
                <a:latin typeface="Helvetica Neue"/>
                <a:ea typeface="Helvetica Neue"/>
                <a:cs typeface="Helvetica Neue"/>
              </a:rPr>
              <a:t>93.22%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EF3360-BEB4-4AA7-8C84-9722E6D2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90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in giant component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F41BA1-9CD5-4D83-9E15-EC0FAB24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9560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5,545 nodes · 8,461 edges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848C3C-C8F4-4FB7-9DC9-A54D883A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112014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08158A-FF8E-44C2-AB2A-B0DCE278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Investor takeaway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A84767-5F52-4C3F-9E08-2439C865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9433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Most accounts participate in one dominant conversation, but 147 additional components remain outside it. That structure explains why whole-graph algebraic connectivity is zero without implying the main conversation has no internal cohesion.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D16F20-D518-4EDE-8BC1-5A299FAF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0292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Source: independent recomputation of RejectFinanceBill2024.xlsx; directed unique edges = 8,741; undirected unique edges = 8,733.</a:t>
            </a:r>
          </a:p>
        </p:txBody>
      </p:sp>
    </p:spTree>
    <p:extLst>
      <p:ext uri="{BB962C8B-B14F-4D97-AF65-F5344CB8AC3E}">
        <p14:creationId xmlns:p14="http://schemas.microsoft.com/office/powerpoint/2010/main" val="71874723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FC8AA7-BC90-4D63-A020-E81CE4B5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HOW IT WINS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8C108A-405D-4CCE-8612-0BE2D58F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Reusable graph math creates the technical moat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0CAC87-E368-4B37-A8E0-21A789C8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70ED02-FD71-4A2C-B40E-CAB282C0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D2C9A-A810-4ED0-B79C-635B8372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571750" cy="2952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C63A6C-16FD-4A2B-B777-32D65996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1DBEA-42D1-4137-A753-B3CDBFF1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2114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Parse once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28AAAF-8023-4777-B67C-B7AF63E4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114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Open the workbook once and build reusable tweet, edge, and hashtag indexes.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BBDD99-4A50-4D23-B1CE-F70B3974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051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258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20B954-8EB2-4814-85F5-33B4BE6C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09750"/>
            <a:ext cx="2571750" cy="2952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A29D0-F5D4-4BD7-BBCE-23ACE227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38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65067F-D3F8-4115-ABBC-A11DE8BB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33650"/>
            <a:ext cx="2114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Compute once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AF1793-08F2-4146-8793-C4C4A2B2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33750"/>
            <a:ext cx="2114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Reuse centralities and the canonical feature matrix across multiple analysis modules.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DFC889-3A37-4521-BEB9-A6B6A381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051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258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6704B4-09E3-4F53-A0A8-E369941B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2571750" cy="2952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BBF7A7-6840-49B2-B41D-1B95FAF7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A94991-F482-4A8D-9A6A-48F55CF2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33650"/>
            <a:ext cx="2114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75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Respect topology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D7C8F7-7777-4AA9-BC9D-BDAFC25F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2114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Detect components first, then calculate connectivity and vulnerability only where valid.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52CE47-C452-4A11-9DD5-333AD1BB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051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258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251B05-8D5B-4309-85DD-BBFF571C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09750"/>
            <a:ext cx="2571750" cy="2952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6E5A47-DF2E-43E2-A5E9-42FFB8CB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38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32E2C6-93FB-4399-85F7-1D636ADB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33650"/>
            <a:ext cx="2114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Restore, not shortcut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BE6DBF-8227-4618-A961-AED06013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333750"/>
            <a:ext cx="2114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Every upload recomputes; compressed Redis restores the latest result after reload.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CD07DA-9DB0-4820-BB12-AD5B39FC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11201400" cy="752475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2091BC-E39E-4CD5-941A-1282D4CD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863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Measured result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EB5717-5791-4503-8B24-64A2BED9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48275"/>
            <a:ext cx="901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57.11 s → 33.99 s on the verified workbook: about 40% faster without relying on a persistent database.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9AA69F-0239-4ADC-9285-5634D3CD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1033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Implementation techniques verified in the current codebase and full-workbook benchmark.</a:t>
            </a:r>
          </a:p>
        </p:txBody>
      </p:sp>
    </p:spTree>
    <p:extLst>
      <p:ext uri="{BB962C8B-B14F-4D97-AF65-F5344CB8AC3E}">
        <p14:creationId xmlns:p14="http://schemas.microsoft.com/office/powerpoint/2010/main" val="15680838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990D9F-2E01-4ECE-962C-F18E7B73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VERIFIED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0E298-5001-4907-A6C4-25A8D8DA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1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A broadcaster-heavy network creates actionable segmentation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A96B57-A39F-49E1-93AD-8B2B6D31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5EF68E-C931-4111-9788-C7DA2391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533400" y="1733550"/>
          <a:ext xmlns:a="http://schemas.openxmlformats.org/drawingml/2006/main" cx="60960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21278e94b8e4c5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BC6A2-70B5-4951-8444-1EE5B7A8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47850"/>
            <a:ext cx="200025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835FB5-5920-4910-81AF-5A84BC3F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47850"/>
            <a:ext cx="6667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CE603-E7C6-4DF8-92D7-FA6AA882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38350"/>
            <a:ext cx="154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551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0.585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C2828E-F3CD-48E6-9785-F8FB578F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8605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silhouette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ADC574-7BAD-47F9-9DE2-9F89F879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9085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well-separated clusters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18EC27-A624-4E6C-A5DE-3A3D8897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847850"/>
            <a:ext cx="22098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4135BA-0B5A-4EC8-9B43-920CB375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847850"/>
            <a:ext cx="6667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04EFA8-3D0E-41CC-8AE7-776EB7FA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38350"/>
            <a:ext cx="1752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551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6B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6B00"/>
                </a:solidFill>
                <a:latin typeface="Helvetica Neue"/>
                <a:ea typeface="Helvetica Neue"/>
                <a:cs typeface="Helvetica Neue"/>
              </a:rPr>
              <a:t>0.569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644671-D22A-4024-992C-0CA2948E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860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polarization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BE8E0E-FAA1-4043-BECF-FE19A365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908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2 × min(P,N) / 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C55376-0885-41EE-82E2-FDB431A8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76650"/>
            <a:ext cx="44005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7EBC7-6AAE-4032-B55A-F66C3A9E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052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Observed counts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153229-09D5-4EED-9726-07661553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05300"/>
            <a:ext cx="2095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1,693 connectors</a:t>
            </a:r>
          </a:p>
          <a:p xmlns:a="http://schemas.openxmlformats.org/drawingml/2006/main">
            <a:pPr algn="l">
              <a:defRPr sz="150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192 neutral</a:t>
            </a:r>
          </a:p>
          <a:p xmlns:a="http://schemas.openxmlformats.org/drawingml/2006/main">
            <a:pPr algn="l">
              <a:defRPr sz="150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4,063 broadcasters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FDED14-8ECE-4D7E-A6A2-35A55EA5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276725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Interpret as network behavior, not emotional valence.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6A4104-31F9-44E6-92F9-F6598D72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1033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Silhouette definition: https://scikit-learn.org/stable/modules/generated/sklearn.metrics.silhouette_score.html</a:t>
            </a:r>
          </a:p>
        </p:txBody>
      </p:sp>
    </p:spTree>
    <p:extLst>
      <p:ext uri="{BB962C8B-B14F-4D97-AF65-F5344CB8AC3E}">
        <p14:creationId xmlns:p14="http://schemas.microsoft.com/office/powerpoint/2010/main" val="10086980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3136B1-4CD7-4BEA-8317-4C6DF43E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VERIFIED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53C0A4-F37A-4B0C-BD7E-A29F87EC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Topology-aware math reveals concentrated fragility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A0B67A-DE99-4FC7-8517-C8848ADF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34B41-27C5-41E4-B93F-E526BD81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2C2622-A6F9-4365-9532-A70FF9A1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5334000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442AF-535E-4E0B-BAF1-2F8ACE00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431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Whole graph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4E648-59E6-44CA-A1C7-18ED81BA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1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148 components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673AF-ED9F-444C-AFAD-2A026BE4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Fiedler λ₂ =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73E93-978E-49A4-B536-8AC89035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CVI = N/A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723263-119A-4FFA-8F69-433330BD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00550"/>
            <a:ext cx="452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 disconnected graph has zero algebraic connectivity. Dividing betweenness by λ₂ would be undefined.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A7D22F-1FC4-4719-97C4-D2A42749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95450"/>
            <a:ext cx="5619750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5E3B7D-E3DF-4849-BD02-19144169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431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Giant component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751378-D15D-40B5-9716-0674667B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146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5,545 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02D7C2-DDDC-43B2-8A4D-E622797C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432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λ₂ = 0.02782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84EC49-F95D-4A62-A387-AFA52453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14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6B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6B00"/>
                </a:solidFill>
                <a:latin typeface="Helvetica Neue"/>
                <a:ea typeface="Helvetica Neue"/>
                <a:cs typeface="Helvetica Neue"/>
              </a:rPr>
              <a:t>CVI = 0.00588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8C2783-A92B-4F12-9CB5-3580F916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005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4 of the top 20 brokers fragment the graph by more than 10% under the project’s removal rule.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3DD859-4866-4E7E-9949-E9698338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Custom: CVI = max directed betweenness / matching unnormalized λ₂ · SI(v) = Cᵦ(v) × log(deg(v)+1)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408592-7221-492D-9312-8ADEFA83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1033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NetworkX algebraic connectivity and betweenness docs — https://networkx.org/documentation/stable/reference/algorithms/</a:t>
            </a:r>
          </a:p>
        </p:txBody>
      </p:sp>
    </p:spTree>
    <p:extLst>
      <p:ext uri="{BB962C8B-B14F-4D97-AF65-F5344CB8AC3E}">
        <p14:creationId xmlns:p14="http://schemas.microsoft.com/office/powerpoint/2010/main" val="25562159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701675-10F0-4578-9325-D916ED35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COMMERCIAL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2AFA5-24DB-4DD6-B62E-8A427B40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Land with analysis; expand into recurring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C3D4A-2AB8-4EB2-B2AD-ED0ECD26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4457F-738A-4764-A984-E37ED61E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403AA-059F-4AFC-AEBE-47B7C3A7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3505200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CFF81-B428-464A-B747-CDDE0FAF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31E202-3F30-4C81-ACB0-0016DB77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28875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Paid pilot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448CC-F9BA-4852-BF0C-487FE51B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95625"/>
            <a:ext cx="2990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One dataset · one decision question · analyst 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B73EA-5561-486B-A129-F3419548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297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380D2A-0011-45AF-B3A8-EC36B81A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2990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Fast entry point that proves value with the customer’s own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2E83CE-EB1D-4EAD-B10A-A726A632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14500"/>
            <a:ext cx="3505200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8FCE75-567F-460A-A1D6-1A8872D1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423501-356D-4812-B74E-5B3665A7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28875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Team subscription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8BB8A5-D468-4C19-9C15-AA80173C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95625"/>
            <a:ext cx="2990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Repeat uploads · comparisons · reports · AI copilot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B56E57-8328-40C9-9DA3-BA1C04E4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52875"/>
            <a:ext cx="297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6FDD4F-5860-4F05-9D9D-F50174E3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71950"/>
            <a:ext cx="2990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Recurring workflow for research, monitoring, and communications teams.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30460C-10EE-4F64-94BE-2AA60B92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14500"/>
            <a:ext cx="3505200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40F370-532C-4520-94BA-5BC05BEA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7EF0EA-4884-4E90-AC92-9AA69A1D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28875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27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Institutional deployment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C601DE-FE97-4158-BD72-187767BA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95625"/>
            <a:ext cx="2990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Governance · private configuration · custom indicators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7B8974-E459-4D03-B71A-7B455D31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52875"/>
            <a:ext cx="297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9F4952-D0A4-45FC-8813-DFB04E9B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990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Higher-value deployment for regulated or mission-critical environments.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0D5161-FCCA-4990-AA57-205D71BF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054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Commercial principle: prove value on a live question, then expand with frequency, users, governance, and custom analysis.</a:t>
            </a:r>
          </a:p>
        </p:txBody>
      </p:sp>
    </p:spTree>
    <p:extLst>
      <p:ext uri="{BB962C8B-B14F-4D97-AF65-F5344CB8AC3E}">
        <p14:creationId xmlns:p14="http://schemas.microsoft.com/office/powerpoint/2010/main" val="49109385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4A7563-F595-4FDA-B4DB-1DD49ACD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PRODUCT EXPANSION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20E370-D314-4824-99BC-A3AEB6AB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56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AI expands analyst capacity without breaking the evidence chain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87E3F-5945-4EE6-8EE2-A62A88C1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C55D5-CEC6-4015-A03B-1CE29FBC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1F92A0-2A67-4D76-BFB8-743E06FE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35052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0BC18-782A-4BF4-AF0F-E6D0F923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D3EA79-5894-456C-AD7E-F7E1EB3D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Narrative timing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ADB9FA-899A-4C73-8010-E97ED172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67075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Detect emergence, acceleration, peak, and decay from timestamped hashtag use.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447A33-09E9-47B5-877E-D8957E1C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52600"/>
            <a:ext cx="35052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477BC2-B286-4242-9F47-CEB44545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812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925C7E-294A-4D73-B6C5-FDDF418E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955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Authenticity screening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507C2D-DF91-47FA-ACA1-B43AB0F3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67075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 seven-dimensional model separates campaign-like from organic behavioral patterns.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3F58C5-5CA5-4A68-A606-B72B6A0F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5052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4FD81F-D908-459D-8545-0169261E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812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CE7C63-5D3E-40DF-B40A-C1662FFD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955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Analyst copilot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D25087-4C57-45EC-9E8D-69AD9CE9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67075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Chat, AI Analysis, and Drift explain canonical metrics and changing narratives.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C00ABA-095B-4427-B869-1CEB68A7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111252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AB0B51-3C65-4DFB-894D-D1BBF856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Evidence first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80E963-D2F7-44BF-BDDC-8EA7B9E1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53000"/>
            <a:ext cx="830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Chat, AI Analysis, and Drift retrieve the canonical sentiment, disinformation, censorship, hashtag, and graph metrics through the API. Redis restores the same payload after reload; it is not the source of new calculations.</a:t>
            </a:r>
          </a:p>
        </p:txBody>
      </p:sp>
    </p:spTree>
    <p:extLst>
      <p:ext uri="{BB962C8B-B14F-4D97-AF65-F5344CB8AC3E}">
        <p14:creationId xmlns:p14="http://schemas.microsoft.com/office/powerpoint/2010/main" val="126592401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54DC87-837D-492F-B368-BA9D6E66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PERFORMANCE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BB199-E72D-4C59-841A-81A7308A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A 40% speed gain makes recurring analysis viable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8E928-4163-462E-8937-BBCC3D9E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853901-D0C7-4786-AB05-C8849F82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514350" y="1733550"/>
          <a:ext xmlns:a="http://schemas.openxmlformats.org/drawingml/2006/main" cx="6000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90feedf32ed437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57EB11-DA77-4F59-B8EC-E4A18AE2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33550"/>
            <a:ext cx="45339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74777D-6D67-42DB-BAFD-5E1B5521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0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Where the time goes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59C688-B1E2-48B7-B7B0-54012870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622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Load + parse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69D30B-59EB-4A66-AD12-B8B0D17B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622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17.54 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E0C700-9468-4FC8-BF4F-9A90AB8B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57500"/>
            <a:ext cx="388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75B6C9-E854-4024-8D63-E17981A7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90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Feature matrix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845FBC-B5BD-46C3-A491-9DEDDD1E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908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8.44 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18A317-26AB-41F1-9EA9-2696F0ED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86125"/>
            <a:ext cx="388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58652F-2F42-41B2-8EE0-E0B94119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194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Censorship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891264-2F1B-4823-B69D-CCE07B91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194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4.13 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B6D263-D8FF-4420-BE5B-42A08B81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14750"/>
            <a:ext cx="388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6CCB8E-18E3-4FE0-99C0-7A3892F5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481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Disinformation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C7062B-D232-46A8-89C0-D8201A78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481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1.74 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E304F1-D704-41E1-899A-20E58F24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43375"/>
            <a:ext cx="388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0D8D55-5FB0-4069-96AA-FE0FA719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2767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Hashtags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43899F-B681-4321-8BC6-73B2499E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2767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1.44 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F3913D-3298-4A26-B133-0B78521B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572000"/>
            <a:ext cx="388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B64818-5178-40F9-87BE-0243DF89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053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Sentiment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0A18BE-50E8-4379-BCBC-A860DB20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7053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0.20 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E10EE0-97CD-40C5-B23F-5473229C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Single workbook open · one-pass hashtag index · reused betweenness · faster component/Fiedler analysis</a:t>
            </a:r>
          </a:p>
        </p:txBody>
      </p:sp>
    </p:spTree>
    <p:extLst>
      <p:ext uri="{BB962C8B-B14F-4D97-AF65-F5344CB8AC3E}">
        <p14:creationId xmlns:p14="http://schemas.microsoft.com/office/powerpoint/2010/main" val="17609976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E85717-8509-4322-87AC-3ED93C26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WHY SIMELAB CAN WIN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37B50-AB33-4897-9401-1258574A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11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Defensibility comes from transparent math, integration, and 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1084E-03B8-4033-9A42-AAAF4AC6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34C70-06BC-400E-BEB5-A7701304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D3ADC-2A4C-4156-A3C2-1BE8C68C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334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F9771-723D-40E6-8250-B49F38AB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Explainable by 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CA4F8-A90C-46D0-B2E6-3830F31C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1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Standard algorithms, custom indices, cleaning rules, and caveats remain visible.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B20689-8D6F-442F-9C3A-8E5CF13E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5334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C7A18E-62AE-49B1-B27F-A801D26B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Integrated intelligence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ABB5E0-BC95-4B0D-98D2-57B1C52D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Network, risk, hashtags, drift, AI context, and exports share one canonical payload.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7FB249-0D9E-4027-957D-5980780A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5334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9D41F0-99A9-4D65-929A-4CC9165E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Low-friction deployment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FD148C-1778-4FFC-8340-F228FAAB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768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Fresh recomputation plus compressed Redis recovery; no persistent analytical database required.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1427EA-C73D-4915-9102-F61C4F51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5505450" cy="3695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9A586E-51E6-4C09-9022-21DDEA0A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812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Why this is hard to copy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6B050B-E350-4420-9893-76694864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527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525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6B00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165C01-52D6-4E93-801F-1C83D3B4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431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5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Topology-aware calculations avoid attractive but invalid whole-graph scores.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D27707-0F92-48DC-BD85-99FAE0BB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623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525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6B00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364DAB-B428-453E-AF54-B84DE3FA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527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5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Reusable graph primitives make a broad analysis suite economically efficient.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171C95-7768-42F5-AFC0-387B97E2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719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525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6B00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71E828-3785-4F6A-AE85-6691404C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623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5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Verified case workflows create domain knowledge and calibration data.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810C9E-CE2B-47F1-809F-F7DB5900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81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525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6B00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A75858-E46D-4D01-9AEC-3247873E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719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5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Governance boundaries make the AI layer viable for serious institutions.</a:t>
            </a:r>
          </a:p>
        </p:txBody>
      </p:sp>
    </p:spTree>
    <p:extLst>
      <p:ext uri="{BB962C8B-B14F-4D97-AF65-F5344CB8AC3E}">
        <p14:creationId xmlns:p14="http://schemas.microsoft.com/office/powerpoint/2010/main" val="3005171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E7D0AD-531C-4CCE-AB1A-CBD52805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CASE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EB9571-18A1-45AD-9934-6C400239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76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One case reveals structure, concentration, and narrative opportunity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C3504-3B40-41F2-A6D1-CA243F8C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783BC-4FFC-40F9-856F-097C64F5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B22CB1-7F08-4074-B4DB-917E5C10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53911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33029-86B8-48D9-BF25-F51F5A1E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45AB9C-800C-4012-B595-A23A2C3E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Dominant conversation 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DCFAA-25BC-4223-9773-48BD6865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19375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5,545 of 5,948 accounts sit in the giant component (93.22%). The remaining 147 components are peripheral islands, not evidence that the main network is internally disconnected.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E0AC2E-3963-4BCC-BD68-9DCAA61A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57350"/>
            <a:ext cx="53911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A13378-2861-431B-BBBF-3D7A1246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47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07FA3D-0B4F-4A36-9C4B-A23DA656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717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Broadcaster-heavy behavior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C8C726-8BD8-4873-AF90-1515F8B5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19375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4,063 accounts fall into the high-out-degree / low-reciprocity cluster, versus 1,693 connector-like accounts and 192 structurally neutral accounts.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E59BCA-FD8D-4704-98C9-4446D604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52850"/>
            <a:ext cx="53911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14FFE4-D04B-453D-A24A-743469FE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B28735-1BE6-4D07-83BF-0192684F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672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Fragility is concentrated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CFD2FA-FF85-413D-9FD5-5F401126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14875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4 of 20 brokers exceed +10% components. _james041 (degree 776) raises 148 → 426. Also: magwaz3, morarakebasosnr, and breany_22.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5EAC11-1AA3-49CB-A684-73868E5D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52850"/>
            <a:ext cx="53911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699A61-64A8-4547-B31D-FEC327DC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43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7BFC1E-95AC-43ED-9E14-E49EF43B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672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Narrative analysis has depth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8FB151-FB5F-4C4F-B107-655DB682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14875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The workbook yields 3,066 unique timestamped tweets for lifecycle and semantic-drift analysis, allowing graph structure to be compared with changing language over time.</a:t>
            </a:r>
          </a:p>
        </p:txBody>
      </p:sp>
    </p:spTree>
    <p:extLst>
      <p:ext uri="{BB962C8B-B14F-4D97-AF65-F5344CB8AC3E}">
        <p14:creationId xmlns:p14="http://schemas.microsoft.com/office/powerpoint/2010/main" val="211956785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EF19E7-BD49-4208-8626-40BC9100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HOW THE MATH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423A3-7C73-402A-8D95-27B020AD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531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Standard methods and custom indices stay clearly separated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A1846-A58A-486B-B56F-131D4FF3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D2702-9DC2-41B2-9532-0A7BD6C7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00050" y="1619250"/>
          <a:ext xmlns:a="http://schemas.openxmlformats.org/drawingml/2006/main" cx="11201400" cy="42291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00250"/>
                <a:gridCol w="3524250"/>
                <a:gridCol w="2000250"/>
                <a:gridCol w="3676650"/>
              </a:tblGrid>
              <a:tr h="42291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Method class</a:t>
                      </a:r>
                    </a:p>
                  </a:txBody>
                  <a:tcPr marL="91440" marR="91440" marT="45720" marB="45720">
                    <a:solidFill>
                      <a:srgbClr val="2444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2444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Verified value</a:t>
                      </a:r>
                    </a:p>
                  </a:txBody>
                  <a:tcPr marL="91440" marR="91440" marT="45720" marB="45720">
                    <a:solidFill>
                      <a:srgbClr val="2444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Interpretation / configuration</a:t>
                      </a:r>
                    </a:p>
                  </a:txBody>
                  <a:tcPr marL="91440" marR="91440" marT="45720" marB="45720">
                    <a:solidFill>
                      <a:srgbClr val="24449A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A0A0A"/>
                          </a:solidFill>
                        </a:rPr>
                        <a:t>Data quality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A0A0A"/>
                          </a:solidFill>
                        </a:rPr>
                        <a:t>Raw edge rows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A0A0A"/>
                          </a:solidFill>
                        </a:rPr>
                        <a:t>9,806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A0A0A"/>
                          </a:solidFill>
                        </a:rPr>
                        <a:t>Workbook input</a:t>
                      </a:r>
                    </a:p>
                  </a:txBody>
                  <a:tcPr marL="91440" marR="91440" marT="45720" marB="45720"/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A0A0A"/>
                          </a:solidFill>
                        </a:rPr>
                        <a:t>Data quality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A0A0A"/>
                          </a:solidFill>
                        </a:rPr>
                        <a:t>Skipped invalid / self / empty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A0A0A"/>
                          </a:solidFill>
                        </a:rPr>
                        <a:t>1,065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A0A0A"/>
                          </a:solidFill>
                        </a:rPr>
                        <a:t>Cleaning rule</a:t>
                      </a:r>
                    </a:p>
                  </a:txBody>
                  <a:tcPr marL="91440" marR="91440" marT="45720" marB="45720"/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A0A0A"/>
                          </a:solidFill>
                        </a:rPr>
                        <a:t>NetworkX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A0A0A"/>
                          </a:solidFill>
                        </a:rPr>
                        <a:t>Directed unique edges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A0A0A"/>
                          </a:solidFill>
                        </a:rPr>
                        <a:t>8,741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A0A0A"/>
                          </a:solidFill>
                        </a:rPr>
                        <a:t>Canonical graph</a:t>
                      </a:r>
                    </a:p>
                  </a:txBody>
                  <a:tcPr marL="91440" marR="91440" marT="45720" marB="45720"/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A0A0A"/>
                          </a:solidFill>
                        </a:rPr>
                        <a:t>NetworkX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A0A0A"/>
                          </a:solidFill>
                        </a:rPr>
                        <a:t>Whole-graph Fiedler λ₂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A0A0A"/>
                          </a:solidFill>
                        </a:rPr>
                        <a:t>0.00000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A0A0A"/>
                          </a:solidFill>
                        </a:rPr>
                        <a:t>Correct: 148 components</a:t>
                      </a:r>
                    </a:p>
                  </a:txBody>
                  <a:tcPr marL="91440" marR="91440" marT="45720" marB="45720"/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A0A0A"/>
                          </a:solidFill>
                        </a:rPr>
                        <a:t>NetworkX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A0A0A"/>
                          </a:solidFill>
                        </a:rPr>
                        <a:t>Giant-component λ₂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A0A0A"/>
                          </a:solidFill>
                        </a:rPr>
                        <a:t>0.0278185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A0A0A"/>
                          </a:solidFill>
                        </a:rPr>
                        <a:t>Unnormalized Laplacian</a:t>
                      </a:r>
                    </a:p>
                  </a:txBody>
                  <a:tcPr marL="91440" marR="91440" marT="45720" marB="45720"/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A0A0A"/>
                          </a:solidFill>
                        </a:rPr>
                        <a:t>scikit-learn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A0A0A"/>
                          </a:solidFill>
                        </a:rPr>
                        <a:t>Silhouette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A0A0A"/>
                          </a:solidFill>
                        </a:rPr>
                        <a:t>0.584875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A0A0A"/>
                          </a:solidFill>
                        </a:rPr>
                        <a:t>Sample 2,000; seed 42</a:t>
                      </a:r>
                    </a:p>
                  </a:txBody>
                  <a:tcPr marL="91440" marR="91440" marT="45720" marB="45720"/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A0A0A"/>
                          </a:solidFill>
                        </a:rPr>
                        <a:t>Project-defined</a:t>
                      </a:r>
                    </a:p>
                  </a:txBody>
                  <a:tcPr marL="91440" marR="91440" marT="45720" marB="45720">
                    <a:solidFill>
                      <a:srgbClr val="FF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A0A0A"/>
                          </a:solidFill>
                        </a:rPr>
                        <a:t>Balanced polarization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A0A0A"/>
                          </a:solidFill>
                        </a:rPr>
                        <a:t>0.569267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A0A0A"/>
                          </a:solidFill>
                        </a:rPr>
                        <a:t>2 × min(P,N) / n</a:t>
                      </a:r>
                    </a:p>
                  </a:txBody>
                  <a:tcPr marL="91440" marR="91440" marT="45720" marB="45720"/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A0A0A"/>
                          </a:solidFill>
                        </a:rPr>
                        <a:t>Project-defined</a:t>
                      </a:r>
                    </a:p>
                  </a:txBody>
                  <a:tcPr marL="91440" marR="91440" marT="45720" marB="45720">
                    <a:solidFill>
                      <a:srgbClr val="FF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A0A0A"/>
                          </a:solidFill>
                        </a:rPr>
                        <a:t>Giant-component CVI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A0A0A"/>
                          </a:solidFill>
                        </a:rPr>
                        <a:t>0.00587556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A0A0A"/>
                          </a:solidFill>
                        </a:rPr>
                        <a:t>max directed BC / λ₂</a:t>
                      </a:r>
                    </a:p>
                  </a:txBody>
                  <a:tcPr marL="91440" marR="91440" marT="45720" marB="45720"/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A0A0A"/>
                          </a:solidFill>
                        </a:rPr>
                        <a:t>Project-defined</a:t>
                      </a:r>
                    </a:p>
                  </a:txBody>
                  <a:tcPr marL="91440" marR="91440" marT="45720" marB="45720">
                    <a:solidFill>
                      <a:srgbClr val="FF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A0A0A"/>
                          </a:solidFill>
                        </a:rPr>
                        <a:t>Fragmenting brokers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A0A0A"/>
                          </a:solidFill>
                        </a:rPr>
                        <a:t>4 / 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A0A0A"/>
                          </a:solidFill>
                        </a:rPr>
                        <a:t>&gt;10% component increase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0DD29-F418-40B8-A65C-727DE387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2225"/>
            <a:ext cx="1033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Independent workbook recomputation; standard method references: scikit-learn, NetworkX, SciPy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13309090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72431C-9AA6-4F34-A78E-E7F598FF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THE INVESTMENT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D13EF-DA64-47A7-B56A-D1D97BEA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0125"/>
            <a:ext cx="10382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667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Seeking pilot partners and investment to scale a validated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C31473-B6BE-454D-BC82-70DC108C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34861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2C3406-6C97-4FDD-8716-B7F35716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BE9F40-7548-4395-BB2E-161B5186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385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Productize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6FA85-F7F4-4323-994C-1D9BC435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0025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77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Harden onboarding, multi-dataset comparison, reporting, and deployment.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F3134-D46B-403C-972F-D68E19E1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81300"/>
            <a:ext cx="34861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553057-B040-4203-9C35-0D0D558C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289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617D73-1274-40FE-8F00-283A6AE2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385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Validate demand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D329F5-5ED4-4327-8E3A-555FDCE6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10025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Run paid pilots with research, media, public-sector, and brand teams.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3C0C1E-85F5-4531-8059-242665B9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81300"/>
            <a:ext cx="34861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166C71-F88B-478D-A9C0-6E030878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289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449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022A46-78ED-42C4-A268-9EB487CD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385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Scale delivery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61EA97-501C-4EB1-905D-62497458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10025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6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Build repeatable governance, integrations, support, and institutional packages.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3800A-9FE2-4F9D-A92C-61E0A14D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10680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44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1AA406-6C88-44FC-8579-B9658D18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48300"/>
            <a:ext cx="1055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78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Near-term milestone: convert verified technical performance into repeatable paid intelligence workflows.</a:t>
            </a:r>
          </a:p>
        </p:txBody>
      </p:sp>
    </p:spTree>
    <p:extLst>
      <p:ext uri="{BB962C8B-B14F-4D97-AF65-F5344CB8AC3E}">
        <p14:creationId xmlns:p14="http://schemas.microsoft.com/office/powerpoint/2010/main" val="8708743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2026-07-13T18:52:44.1250000Z</dcterms:created>
  <dcterms:modified xsi:type="dcterms:W3CDTF">2026-07-13T18:52:44.1260000Z</dcterms:modified>
</coreProperties>
</file>